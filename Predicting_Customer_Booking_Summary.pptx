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PURPOSE: one-slide summary of the customer-booking propensity model.</a:t>
            </a:r>
          </a:p>
          <a:p/>
          <a:p>
            <a:r>
              <a:t>DATA: 50,000 British Airways booking enquiries, 14 columns, no missing values. 719 exact duplicate rows were removed, leaving 49,281 rows; 15.0% completed a booking. An 80/20 stratified split was used (39,424 train / 9,857 holdout).</a:t>
            </a:r>
          </a:p>
          <a:p/>
          <a:p>
            <a:r>
              <a:t>FEATURES: num_passengers, purchase_lead, length_of_stay, flight_hour (plus sine/cosine), flight_duration, flight_day_num, is_weekend, extras_count, the three optional-extra flags, sales_channel, trip_type, route and booking_origin. Route and booking_origin were target-encoded out-of-fold inside the model pipeline.</a:t>
            </a:r>
          </a:p>
          <a:p/>
          <a:p>
            <a:r>
              <a:t>MODEL: RandomForestClassifier, 600 trees, min_samples_leaf=10, max_features='sqrt', class_weight='balanced_subsample'. 5-fold stratified CV on the training set. CV ROC-AUC 0.795 +/- 0.003, PR-AUC 0.391 +/- 0.011, F1 0.451. Holdout ROC-AUC 0.788, PR-AUC 0.367 (vs 0.150 prevalence), accuracy 76.8%, recall 60.6%, precision 34.4% at the 0.5 threshold.</a:t>
            </a:r>
          </a:p>
          <a:p/>
          <a:p>
            <a:r>
              <a:t>BUSINESS RESULT: the model is a ranking tool. Contacting the top 10% captures 28.6% of all bookings (2.86x lift); the top 20% captures 50.3% (2.51x lift). Top decile precision is 42.8%, so most contacted customers still will not book - it is a prioritisation aid, not a guarantee.</a:t>
            </a:r>
          </a:p>
          <a:p/>
          <a:p>
            <a:r>
              <a:t>DRIVERS: grouped permutation importance on the holdout set. Booking origin is 11.0 percentage points of ROC-AUC, route 7.3, optional extras 1.8, length of stay 1.1, sales channel 0.7, flight duration 0.5, purchase lead time 0.5. Origin and route together are about 80% of measured importance, so the score mostly separates markets before it separates individuals.</a:t>
            </a:r>
          </a:p>
          <a:p/>
          <a:p>
            <a:r>
              <a:t>CAVEATS: (1) The optional-extra fields may be captured late in the funnel; without them the holdout ROC-AUC is 0.781 and PR-AUC 0.352. Confirm timing before production use. (2) The analysis is predictive, not causal. (3) Price, seasonality/travel dates, repeat-customer history and abandoned-search data were not available. (4) Retrain and monitor drift before reuse.</a:t>
            </a:r>
          </a:p>
          <a:p/>
          <a:p>
            <a:r>
              <a:t>RECOMMENDATION: deploy as a ranked marketing score, target the top 10-20%, A/B test incremental bookings against random contact, localise creative by origin/route and short breaks, and retrain quarterly with price and seasonality data.</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9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41832"/>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41832"/>
            <a:ext cx="12191695" cy="41148"/>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11480" y="155448"/>
            <a:ext cx="9966960" cy="475488"/>
          </a:xfrm>
          <a:prstGeom prst="rect">
            <a:avLst/>
          </a:prstGeom>
          <a:noFill/>
        </p:spPr>
        <p:txBody>
          <a:bodyPr wrap="square" lIns="0" rIns="0" tIns="0" bIns="0" anchor="t">
            <a:spAutoFit/>
          </a:bodyPr>
          <a:lstStyle/>
          <a:p>
            <a:pPr algn="l">
              <a:lnSpc>
                <a:spcPct val="100000"/>
              </a:lnSpc>
            </a:pPr>
            <a:r>
              <a:rPr sz="2400" b="1" i="0">
                <a:solidFill>
                  <a:srgbClr val="FFFFFF"/>
                </a:solidFill>
                <a:latin typeface="Segoe UI"/>
              </a:rPr>
              <a:t>Customer booking prediction: geography is the strongest signal</a:t>
            </a:r>
          </a:p>
        </p:txBody>
      </p:sp>
      <p:sp>
        <p:nvSpPr>
          <p:cNvPr id="6" name="TextBox 5"/>
          <p:cNvSpPr txBox="1"/>
          <p:nvPr/>
        </p:nvSpPr>
        <p:spPr>
          <a:xfrm>
            <a:off x="429768" y="640080"/>
            <a:ext cx="9601200" cy="228600"/>
          </a:xfrm>
          <a:prstGeom prst="rect">
            <a:avLst/>
          </a:prstGeom>
          <a:noFill/>
        </p:spPr>
        <p:txBody>
          <a:bodyPr wrap="square" lIns="0" rIns="0" tIns="0" bIns="0" anchor="t">
            <a:spAutoFit/>
          </a:bodyPr>
          <a:lstStyle/>
          <a:p>
            <a:pPr algn="l">
              <a:lnSpc>
                <a:spcPct val="100000"/>
              </a:lnSpc>
            </a:pPr>
            <a:r>
              <a:rPr sz="1050" b="0" i="0">
                <a:solidFill>
                  <a:srgbClr val="9DC3E6"/>
                </a:solidFill>
                <a:latin typeface="Segoe UI"/>
              </a:rPr>
              <a:t>Random Forest model on 49,281 British Airways booking enquiries  |  5-fold cross-validation + holdout evaluation</a:t>
            </a:r>
          </a:p>
        </p:txBody>
      </p:sp>
      <p:sp>
        <p:nvSpPr>
          <p:cNvPr id="7" name="TextBox 6"/>
          <p:cNvSpPr txBox="1"/>
          <p:nvPr/>
        </p:nvSpPr>
        <p:spPr>
          <a:xfrm>
            <a:off x="10058400" y="301752"/>
            <a:ext cx="1737360" cy="201168"/>
          </a:xfrm>
          <a:prstGeom prst="rect">
            <a:avLst/>
          </a:prstGeom>
          <a:noFill/>
        </p:spPr>
        <p:txBody>
          <a:bodyPr wrap="square" lIns="0" rIns="0" tIns="0" bIns="0" anchor="t">
            <a:spAutoFit/>
          </a:bodyPr>
          <a:lstStyle/>
          <a:p>
            <a:pPr algn="r">
              <a:lnSpc>
                <a:spcPct val="100000"/>
              </a:lnSpc>
            </a:pPr>
            <a:r>
              <a:rPr sz="850" b="1" i="0">
                <a:solidFill>
                  <a:srgbClr val="9DC3E6"/>
                </a:solidFill>
                <a:latin typeface="Segoe UI"/>
              </a:rPr>
              <a:t>CUSTOMER ANALYTICS</a:t>
            </a:r>
          </a:p>
        </p:txBody>
      </p:sp>
      <p:sp>
        <p:nvSpPr>
          <p:cNvPr id="8" name="TextBox 7"/>
          <p:cNvSpPr txBox="1"/>
          <p:nvPr/>
        </p:nvSpPr>
        <p:spPr>
          <a:xfrm>
            <a:off x="10058400" y="502920"/>
            <a:ext cx="1737360" cy="201168"/>
          </a:xfrm>
          <a:prstGeom prst="rect">
            <a:avLst/>
          </a:prstGeom>
          <a:noFill/>
        </p:spPr>
        <p:txBody>
          <a:bodyPr wrap="square" lIns="0" rIns="0" tIns="0" bIns="0" anchor="t">
            <a:spAutoFit/>
          </a:bodyPr>
          <a:lstStyle/>
          <a:p>
            <a:pPr algn="r">
              <a:lnSpc>
                <a:spcPct val="100000"/>
              </a:lnSpc>
            </a:pPr>
            <a:r>
              <a:rPr sz="850" b="0" i="0">
                <a:solidFill>
                  <a:srgbClr val="BFD4EA"/>
                </a:solidFill>
                <a:latin typeface="Segoe UI"/>
              </a:rPr>
              <a:t>October 2026</a:t>
            </a:r>
          </a:p>
        </p:txBody>
      </p:sp>
      <p:sp>
        <p:nvSpPr>
          <p:cNvPr id="9" name="Rectangle 8"/>
          <p:cNvSpPr/>
          <p:nvPr/>
        </p:nvSpPr>
        <p:spPr>
          <a:xfrm>
            <a:off x="411480" y="1115568"/>
            <a:ext cx="2743200" cy="960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11480" y="1115568"/>
            <a:ext cx="2743200" cy="59436"/>
          </a:xfrm>
          <a:prstGeom prst="rect">
            <a:avLst/>
          </a:prstGeom>
          <a:solidFill>
            <a:srgbClr val="1F4E7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576072" y="1225295"/>
            <a:ext cx="1051560" cy="420624"/>
          </a:xfrm>
          <a:prstGeom prst="rect">
            <a:avLst/>
          </a:prstGeom>
          <a:noFill/>
        </p:spPr>
        <p:txBody>
          <a:bodyPr wrap="square" lIns="0" rIns="0" tIns="0" bIns="0" anchor="t">
            <a:spAutoFit/>
          </a:bodyPr>
          <a:lstStyle/>
          <a:p>
            <a:pPr algn="l">
              <a:lnSpc>
                <a:spcPct val="100000"/>
              </a:lnSpc>
            </a:pPr>
            <a:r>
              <a:rPr sz="2600" b="1" i="0">
                <a:solidFill>
                  <a:srgbClr val="0B1F3A"/>
                </a:solidFill>
                <a:latin typeface="Segoe UI"/>
              </a:rPr>
              <a:t>0.79</a:t>
            </a:r>
          </a:p>
        </p:txBody>
      </p:sp>
      <p:sp>
        <p:nvSpPr>
          <p:cNvPr id="12" name="TextBox 11"/>
          <p:cNvSpPr txBox="1"/>
          <p:nvPr/>
        </p:nvSpPr>
        <p:spPr>
          <a:xfrm>
            <a:off x="576072" y="1655064"/>
            <a:ext cx="2468880" cy="182880"/>
          </a:xfrm>
          <a:prstGeom prst="rect">
            <a:avLst/>
          </a:prstGeom>
          <a:noFill/>
        </p:spPr>
        <p:txBody>
          <a:bodyPr wrap="square" lIns="0" rIns="0" tIns="0" bIns="0" anchor="t">
            <a:spAutoFit/>
          </a:bodyPr>
          <a:lstStyle/>
          <a:p>
            <a:pPr algn="l">
              <a:lnSpc>
                <a:spcPct val="100000"/>
              </a:lnSpc>
            </a:pPr>
            <a:r>
              <a:rPr sz="800" b="1" i="0">
                <a:solidFill>
                  <a:srgbClr val="6B7280"/>
                </a:solidFill>
                <a:latin typeface="Segoe UI"/>
              </a:rPr>
              <a:t>ROC-AUC</a:t>
            </a:r>
          </a:p>
        </p:txBody>
      </p:sp>
      <p:sp>
        <p:nvSpPr>
          <p:cNvPr id="13" name="TextBox 12"/>
          <p:cNvSpPr txBox="1"/>
          <p:nvPr/>
        </p:nvSpPr>
        <p:spPr>
          <a:xfrm>
            <a:off x="576072" y="1837943"/>
            <a:ext cx="2468880" cy="182880"/>
          </a:xfrm>
          <a:prstGeom prst="rect">
            <a:avLst/>
          </a:prstGeom>
          <a:noFill/>
        </p:spPr>
        <p:txBody>
          <a:bodyPr wrap="square" lIns="0" rIns="0" tIns="0" bIns="0" anchor="t">
            <a:spAutoFit/>
          </a:bodyPr>
          <a:lstStyle/>
          <a:p>
            <a:pPr algn="l">
              <a:lnSpc>
                <a:spcPct val="100000"/>
              </a:lnSpc>
            </a:pPr>
            <a:r>
              <a:rPr sz="800" b="0" i="0">
                <a:solidFill>
                  <a:srgbClr val="6B7280"/>
                </a:solidFill>
                <a:latin typeface="Segoe UI"/>
              </a:rPr>
              <a:t>Holdout  |  CV 0.795 ± 0.003</a:t>
            </a:r>
          </a:p>
        </p:txBody>
      </p:sp>
      <p:sp>
        <p:nvSpPr>
          <p:cNvPr id="14" name="Rectangle 13"/>
          <p:cNvSpPr/>
          <p:nvPr/>
        </p:nvSpPr>
        <p:spPr>
          <a:xfrm>
            <a:off x="3285439" y="1115568"/>
            <a:ext cx="2743200" cy="960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85439" y="1115568"/>
            <a:ext cx="2743200" cy="59436"/>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0031" y="1225295"/>
            <a:ext cx="1051560" cy="420624"/>
          </a:xfrm>
          <a:prstGeom prst="rect">
            <a:avLst/>
          </a:prstGeom>
          <a:noFill/>
        </p:spPr>
        <p:txBody>
          <a:bodyPr wrap="square" lIns="0" rIns="0" tIns="0" bIns="0" anchor="t">
            <a:spAutoFit/>
          </a:bodyPr>
          <a:lstStyle/>
          <a:p>
            <a:pPr algn="l">
              <a:lnSpc>
                <a:spcPct val="100000"/>
              </a:lnSpc>
            </a:pPr>
            <a:r>
              <a:rPr sz="2600" b="1" i="0">
                <a:solidFill>
                  <a:srgbClr val="0B1F3A"/>
                </a:solidFill>
                <a:latin typeface="Segoe UI"/>
              </a:rPr>
              <a:t>0.37</a:t>
            </a:r>
          </a:p>
        </p:txBody>
      </p:sp>
      <p:sp>
        <p:nvSpPr>
          <p:cNvPr id="17" name="TextBox 16"/>
          <p:cNvSpPr txBox="1"/>
          <p:nvPr/>
        </p:nvSpPr>
        <p:spPr>
          <a:xfrm>
            <a:off x="3450031" y="1655064"/>
            <a:ext cx="2468880" cy="182880"/>
          </a:xfrm>
          <a:prstGeom prst="rect">
            <a:avLst/>
          </a:prstGeom>
          <a:noFill/>
        </p:spPr>
        <p:txBody>
          <a:bodyPr wrap="square" lIns="0" rIns="0" tIns="0" bIns="0" anchor="t">
            <a:spAutoFit/>
          </a:bodyPr>
          <a:lstStyle/>
          <a:p>
            <a:pPr algn="l">
              <a:lnSpc>
                <a:spcPct val="100000"/>
              </a:lnSpc>
            </a:pPr>
            <a:r>
              <a:rPr sz="800" b="1" i="0">
                <a:solidFill>
                  <a:srgbClr val="6B7280"/>
                </a:solidFill>
                <a:latin typeface="Segoe UI"/>
              </a:rPr>
              <a:t>PR-AUC</a:t>
            </a:r>
          </a:p>
        </p:txBody>
      </p:sp>
      <p:sp>
        <p:nvSpPr>
          <p:cNvPr id="18" name="TextBox 17"/>
          <p:cNvSpPr txBox="1"/>
          <p:nvPr/>
        </p:nvSpPr>
        <p:spPr>
          <a:xfrm>
            <a:off x="3450031" y="1837943"/>
            <a:ext cx="2468880" cy="182880"/>
          </a:xfrm>
          <a:prstGeom prst="rect">
            <a:avLst/>
          </a:prstGeom>
          <a:noFill/>
        </p:spPr>
        <p:txBody>
          <a:bodyPr wrap="square" lIns="0" rIns="0" tIns="0" bIns="0" anchor="t">
            <a:spAutoFit/>
          </a:bodyPr>
          <a:lstStyle/>
          <a:p>
            <a:pPr algn="l">
              <a:lnSpc>
                <a:spcPct val="100000"/>
              </a:lnSpc>
            </a:pPr>
            <a:r>
              <a:rPr sz="800" b="0" i="0">
                <a:solidFill>
                  <a:srgbClr val="6B7280"/>
                </a:solidFill>
                <a:latin typeface="Segoe UI"/>
              </a:rPr>
              <a:t>2.4x the 15% base rate</a:t>
            </a:r>
          </a:p>
        </p:txBody>
      </p:sp>
      <p:sp>
        <p:nvSpPr>
          <p:cNvPr id="19" name="Rectangle 18"/>
          <p:cNvSpPr/>
          <p:nvPr/>
        </p:nvSpPr>
        <p:spPr>
          <a:xfrm>
            <a:off x="6158484" y="1115568"/>
            <a:ext cx="2743200" cy="960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58484" y="1115568"/>
            <a:ext cx="2743200" cy="59436"/>
          </a:xfrm>
          <a:prstGeom prst="rect">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323076" y="1225295"/>
            <a:ext cx="1051560" cy="420624"/>
          </a:xfrm>
          <a:prstGeom prst="rect">
            <a:avLst/>
          </a:prstGeom>
          <a:noFill/>
        </p:spPr>
        <p:txBody>
          <a:bodyPr wrap="square" lIns="0" rIns="0" tIns="0" bIns="0" anchor="t">
            <a:spAutoFit/>
          </a:bodyPr>
          <a:lstStyle/>
          <a:p>
            <a:pPr algn="l">
              <a:lnSpc>
                <a:spcPct val="100000"/>
              </a:lnSpc>
            </a:pPr>
            <a:r>
              <a:rPr sz="2600" b="1" i="0">
                <a:solidFill>
                  <a:srgbClr val="0B1F3A"/>
                </a:solidFill>
                <a:latin typeface="Segoe UI"/>
              </a:rPr>
              <a:t>2.9x</a:t>
            </a:r>
          </a:p>
        </p:txBody>
      </p:sp>
      <p:sp>
        <p:nvSpPr>
          <p:cNvPr id="22" name="TextBox 21"/>
          <p:cNvSpPr txBox="1"/>
          <p:nvPr/>
        </p:nvSpPr>
        <p:spPr>
          <a:xfrm>
            <a:off x="6323076" y="1655064"/>
            <a:ext cx="2468880" cy="182880"/>
          </a:xfrm>
          <a:prstGeom prst="rect">
            <a:avLst/>
          </a:prstGeom>
          <a:noFill/>
        </p:spPr>
        <p:txBody>
          <a:bodyPr wrap="square" lIns="0" rIns="0" tIns="0" bIns="0" anchor="t">
            <a:spAutoFit/>
          </a:bodyPr>
          <a:lstStyle/>
          <a:p>
            <a:pPr algn="l">
              <a:lnSpc>
                <a:spcPct val="100000"/>
              </a:lnSpc>
            </a:pPr>
            <a:r>
              <a:rPr sz="800" b="1" i="0">
                <a:solidFill>
                  <a:srgbClr val="6B7280"/>
                </a:solidFill>
                <a:latin typeface="Segoe UI"/>
              </a:rPr>
              <a:t>LIFT AT TOP 10%</a:t>
            </a:r>
          </a:p>
        </p:txBody>
      </p:sp>
      <p:sp>
        <p:nvSpPr>
          <p:cNvPr id="23" name="TextBox 22"/>
          <p:cNvSpPr txBox="1"/>
          <p:nvPr/>
        </p:nvSpPr>
        <p:spPr>
          <a:xfrm>
            <a:off x="6323076" y="1837943"/>
            <a:ext cx="2468880" cy="182880"/>
          </a:xfrm>
          <a:prstGeom prst="rect">
            <a:avLst/>
          </a:prstGeom>
          <a:noFill/>
        </p:spPr>
        <p:txBody>
          <a:bodyPr wrap="square" lIns="0" rIns="0" tIns="0" bIns="0" anchor="t">
            <a:spAutoFit/>
          </a:bodyPr>
          <a:lstStyle/>
          <a:p>
            <a:pPr algn="l">
              <a:lnSpc>
                <a:spcPct val="100000"/>
              </a:lnSpc>
            </a:pPr>
            <a:r>
              <a:rPr sz="800" b="0" i="0">
                <a:solidFill>
                  <a:srgbClr val="6B7280"/>
                </a:solidFill>
                <a:latin typeface="Segoe UI"/>
              </a:rPr>
              <a:t>vs contacting a random 10%</a:t>
            </a:r>
          </a:p>
        </p:txBody>
      </p:sp>
      <p:sp>
        <p:nvSpPr>
          <p:cNvPr id="24" name="Rectangle 23"/>
          <p:cNvSpPr/>
          <p:nvPr/>
        </p:nvSpPr>
        <p:spPr>
          <a:xfrm>
            <a:off x="9032443" y="1115568"/>
            <a:ext cx="2743200" cy="96012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32443" y="1115568"/>
            <a:ext cx="2743200" cy="59436"/>
          </a:xfrm>
          <a:prstGeom prst="rect">
            <a:avLst/>
          </a:prstGeom>
          <a:solidFill>
            <a:srgbClr val="1E844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97035" y="1225295"/>
            <a:ext cx="1051560" cy="420624"/>
          </a:xfrm>
          <a:prstGeom prst="rect">
            <a:avLst/>
          </a:prstGeom>
          <a:noFill/>
        </p:spPr>
        <p:txBody>
          <a:bodyPr wrap="square" lIns="0" rIns="0" tIns="0" bIns="0" anchor="t">
            <a:spAutoFit/>
          </a:bodyPr>
          <a:lstStyle/>
          <a:p>
            <a:pPr algn="l">
              <a:lnSpc>
                <a:spcPct val="100000"/>
              </a:lnSpc>
            </a:pPr>
            <a:r>
              <a:rPr sz="2600" b="1" i="0">
                <a:solidFill>
                  <a:srgbClr val="0B1F3A"/>
                </a:solidFill>
                <a:latin typeface="Segoe UI"/>
              </a:rPr>
              <a:t>29%</a:t>
            </a:r>
          </a:p>
        </p:txBody>
      </p:sp>
      <p:sp>
        <p:nvSpPr>
          <p:cNvPr id="27" name="TextBox 26"/>
          <p:cNvSpPr txBox="1"/>
          <p:nvPr/>
        </p:nvSpPr>
        <p:spPr>
          <a:xfrm>
            <a:off x="9197035" y="1655064"/>
            <a:ext cx="2468880" cy="182880"/>
          </a:xfrm>
          <a:prstGeom prst="rect">
            <a:avLst/>
          </a:prstGeom>
          <a:noFill/>
        </p:spPr>
        <p:txBody>
          <a:bodyPr wrap="square" lIns="0" rIns="0" tIns="0" bIns="0" anchor="t">
            <a:spAutoFit/>
          </a:bodyPr>
          <a:lstStyle/>
          <a:p>
            <a:pPr algn="l">
              <a:lnSpc>
                <a:spcPct val="100000"/>
              </a:lnSpc>
            </a:pPr>
            <a:r>
              <a:rPr sz="800" b="1" i="0">
                <a:solidFill>
                  <a:srgbClr val="6B7280"/>
                </a:solidFill>
                <a:latin typeface="Segoe UI"/>
              </a:rPr>
              <a:t>BOOKINGS CAPTURED</a:t>
            </a:r>
          </a:p>
        </p:txBody>
      </p:sp>
      <p:sp>
        <p:nvSpPr>
          <p:cNvPr id="28" name="TextBox 27"/>
          <p:cNvSpPr txBox="1"/>
          <p:nvPr/>
        </p:nvSpPr>
        <p:spPr>
          <a:xfrm>
            <a:off x="9197035" y="1837943"/>
            <a:ext cx="2468880" cy="182880"/>
          </a:xfrm>
          <a:prstGeom prst="rect">
            <a:avLst/>
          </a:prstGeom>
          <a:noFill/>
        </p:spPr>
        <p:txBody>
          <a:bodyPr wrap="square" lIns="0" rIns="0" tIns="0" bIns="0" anchor="t">
            <a:spAutoFit/>
          </a:bodyPr>
          <a:lstStyle/>
          <a:p>
            <a:pPr algn="l">
              <a:lnSpc>
                <a:spcPct val="100000"/>
              </a:lnSpc>
            </a:pPr>
            <a:r>
              <a:rPr sz="800" b="0" i="0">
                <a:solidFill>
                  <a:srgbClr val="6B7280"/>
                </a:solidFill>
                <a:latin typeface="Segoe UI"/>
              </a:rPr>
              <a:t>by targeting the top 10%</a:t>
            </a:r>
          </a:p>
        </p:txBody>
      </p:sp>
      <p:sp>
        <p:nvSpPr>
          <p:cNvPr id="29" name="Rectangle 28"/>
          <p:cNvSpPr/>
          <p:nvPr/>
        </p:nvSpPr>
        <p:spPr>
          <a:xfrm>
            <a:off x="411480" y="2231136"/>
            <a:ext cx="6903720" cy="3383280"/>
          </a:xfrm>
          <a:prstGeom prst="rect">
            <a:avLst/>
          </a:prstGeom>
          <a:solidFill>
            <a:srgbClr val="FFFFFF"/>
          </a:solidFill>
          <a:ln w="9525">
            <a:solidFill>
              <a:srgbClr val="E2E8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2368296"/>
            <a:ext cx="5852160" cy="237744"/>
          </a:xfrm>
          <a:prstGeom prst="rect">
            <a:avLst/>
          </a:prstGeom>
          <a:noFill/>
        </p:spPr>
        <p:txBody>
          <a:bodyPr wrap="square" lIns="0" rIns="0" tIns="0" bIns="0" anchor="t">
            <a:spAutoFit/>
          </a:bodyPr>
          <a:lstStyle/>
          <a:p>
            <a:pPr algn="l">
              <a:lnSpc>
                <a:spcPct val="100000"/>
              </a:lnSpc>
            </a:pPr>
            <a:r>
              <a:rPr sz="1400" b="1" i="0">
                <a:solidFill>
                  <a:srgbClr val="0B1F3A"/>
                </a:solidFill>
                <a:latin typeface="Segoe UI"/>
              </a:rPr>
              <a:t>What drives a booking?</a:t>
            </a:r>
          </a:p>
        </p:txBody>
      </p:sp>
      <p:sp>
        <p:nvSpPr>
          <p:cNvPr id="31" name="TextBox 30"/>
          <p:cNvSpPr txBox="1"/>
          <p:nvPr/>
        </p:nvSpPr>
        <p:spPr>
          <a:xfrm>
            <a:off x="594360" y="2624328"/>
            <a:ext cx="6492240" cy="292608"/>
          </a:xfrm>
          <a:prstGeom prst="rect">
            <a:avLst/>
          </a:prstGeom>
          <a:noFill/>
        </p:spPr>
        <p:txBody>
          <a:bodyPr wrap="square" lIns="0" rIns="0" tIns="0" bIns="0" anchor="t">
            <a:spAutoFit/>
          </a:bodyPr>
          <a:lstStyle/>
          <a:p>
            <a:pPr algn="l">
              <a:lnSpc>
                <a:spcPct val="100000"/>
              </a:lnSpc>
            </a:pPr>
            <a:r>
              <a:rPr sz="819" b="0" i="0">
                <a:solidFill>
                  <a:srgbClr val="6B7280"/>
                </a:solidFill>
                <a:latin typeface="Segoe UI"/>
              </a:rPr>
              <a:t>Drop in holdout ROC-AUC when each driver is shuffled. Other features add &lt;0.1 pts each.</a:t>
            </a:r>
          </a:p>
        </p:txBody>
      </p:sp>
      <p:pic>
        <p:nvPicPr>
          <p:cNvPr id="32" name="Picture 31" descr="Horizontal bar chart of permutation importance. Booking origin 11.0 percentage points, flight route 7.3, optional extras 1.8, length of stay 1.1, sales channel 0.7, flight duration 0.5, purchase lead time 0.5."/>
          <p:cNvPicPr>
            <a:picLocks noChangeAspect="1"/>
          </p:cNvPicPr>
          <p:nvPr/>
        </p:nvPicPr>
        <p:blipFill>
          <a:blip r:embed="rId2"/>
          <a:stretch>
            <a:fillRect/>
          </a:stretch>
        </p:blipFill>
        <p:spPr>
          <a:xfrm>
            <a:off x="466344" y="2798064"/>
            <a:ext cx="6793992" cy="2743727"/>
          </a:xfrm>
          <a:prstGeom prst="rect">
            <a:avLst/>
          </a:prstGeom>
        </p:spPr>
      </p:pic>
      <p:sp>
        <p:nvSpPr>
          <p:cNvPr id="33" name="Rectangle 32"/>
          <p:cNvSpPr/>
          <p:nvPr/>
        </p:nvSpPr>
        <p:spPr>
          <a:xfrm>
            <a:off x="7452360" y="2231136"/>
            <a:ext cx="4325112" cy="3383280"/>
          </a:xfrm>
          <a:prstGeom prst="rect">
            <a:avLst/>
          </a:prstGeom>
          <a:solidFill>
            <a:srgbClr val="F0F5FA"/>
          </a:solidFill>
          <a:ln w="9525">
            <a:solidFill>
              <a:srgbClr val="DCE5F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7452360" y="2231136"/>
            <a:ext cx="64008" cy="3383280"/>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7671816" y="2368296"/>
            <a:ext cx="3959352" cy="219456"/>
          </a:xfrm>
          <a:prstGeom prst="rect">
            <a:avLst/>
          </a:prstGeom>
          <a:noFill/>
        </p:spPr>
        <p:txBody>
          <a:bodyPr wrap="square" lIns="0" rIns="0" tIns="0" bIns="0" anchor="t">
            <a:spAutoFit/>
          </a:bodyPr>
          <a:lstStyle/>
          <a:p>
            <a:pPr algn="l">
              <a:lnSpc>
                <a:spcPct val="100000"/>
              </a:lnSpc>
            </a:pPr>
            <a:r>
              <a:rPr sz="900" b="1" i="0">
                <a:solidFill>
                  <a:srgbClr val="008C95"/>
                </a:solidFill>
                <a:latin typeface="Segoe UI"/>
              </a:rPr>
              <a:t>WHAT THE MODEL TELLS US</a:t>
            </a:r>
          </a:p>
        </p:txBody>
      </p:sp>
      <p:sp>
        <p:nvSpPr>
          <p:cNvPr id="36" name="Oval 35"/>
          <p:cNvSpPr/>
          <p:nvPr/>
        </p:nvSpPr>
        <p:spPr>
          <a:xfrm>
            <a:off x="7671816" y="2670048"/>
            <a:ext cx="256032" cy="256032"/>
          </a:xfrm>
          <a:prstGeom prst="ellipse">
            <a:avLst/>
          </a:prstGeom>
          <a:solidFill>
            <a:srgbClr val="2E75B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7671816" y="2674620"/>
            <a:ext cx="256032" cy="228600"/>
          </a:xfrm>
          <a:prstGeom prst="rect">
            <a:avLst/>
          </a:prstGeom>
          <a:noFill/>
        </p:spPr>
        <p:txBody>
          <a:bodyPr wrap="square" lIns="0" rIns="0" tIns="0" bIns="0" anchor="ctr">
            <a:spAutoFit/>
          </a:bodyPr>
          <a:lstStyle/>
          <a:p>
            <a:pPr algn="ctr">
              <a:lnSpc>
                <a:spcPct val="100000"/>
              </a:lnSpc>
            </a:pPr>
            <a:r>
              <a:rPr sz="900" b="1" i="0">
                <a:solidFill>
                  <a:srgbClr val="FFFFFF"/>
                </a:solidFill>
                <a:latin typeface="Segoe UI"/>
              </a:rPr>
              <a:t>1</a:t>
            </a:r>
          </a:p>
        </p:txBody>
      </p:sp>
      <p:sp>
        <p:nvSpPr>
          <p:cNvPr id="38" name="TextBox 37"/>
          <p:cNvSpPr txBox="1"/>
          <p:nvPr/>
        </p:nvSpPr>
        <p:spPr>
          <a:xfrm>
            <a:off x="8010144" y="2651760"/>
            <a:ext cx="3611880" cy="237744"/>
          </a:xfrm>
          <a:prstGeom prst="rect">
            <a:avLst/>
          </a:prstGeom>
          <a:noFill/>
        </p:spPr>
        <p:txBody>
          <a:bodyPr wrap="square" lIns="0" rIns="0" tIns="0" bIns="0" anchor="t">
            <a:spAutoFit/>
          </a:bodyPr>
          <a:lstStyle/>
          <a:p>
            <a:pPr algn="l">
              <a:lnSpc>
                <a:spcPct val="100000"/>
              </a:lnSpc>
            </a:pPr>
            <a:r>
              <a:rPr sz="950" b="1" i="0">
                <a:solidFill>
                  <a:srgbClr val="0B1F3A"/>
                </a:solidFill>
                <a:latin typeface="Segoe UI"/>
              </a:rPr>
              <a:t>Market and route drive ~80% of measured importance.</a:t>
            </a:r>
          </a:p>
        </p:txBody>
      </p:sp>
      <p:sp>
        <p:nvSpPr>
          <p:cNvPr id="39" name="TextBox 38"/>
          <p:cNvSpPr txBox="1"/>
          <p:nvPr/>
        </p:nvSpPr>
        <p:spPr>
          <a:xfrm>
            <a:off x="8010144" y="2898648"/>
            <a:ext cx="3611880" cy="502920"/>
          </a:xfrm>
          <a:prstGeom prst="rect">
            <a:avLst/>
          </a:prstGeom>
          <a:noFill/>
        </p:spPr>
        <p:txBody>
          <a:bodyPr wrap="square" lIns="0" rIns="0" tIns="0" bIns="0" anchor="t">
            <a:spAutoFit/>
          </a:bodyPr>
          <a:lstStyle/>
          <a:p>
            <a:pPr algn="l">
              <a:lnSpc>
                <a:spcPct val="100000"/>
              </a:lnSpc>
            </a:pPr>
            <a:r>
              <a:rPr sz="890" b="0" i="0">
                <a:solidFill>
                  <a:srgbClr val="334155"/>
                </a:solidFill>
                <a:latin typeface="Segoe UI"/>
              </a:rPr>
              <a:t>Conversion is ~5% in Australia/New Zealand vs ~35% in Malaysia. The score mostly separates markets before it separates individuals.</a:t>
            </a:r>
          </a:p>
        </p:txBody>
      </p:sp>
      <p:sp>
        <p:nvSpPr>
          <p:cNvPr id="40" name="Oval 39"/>
          <p:cNvSpPr/>
          <p:nvPr/>
        </p:nvSpPr>
        <p:spPr>
          <a:xfrm>
            <a:off x="7671816" y="3419856"/>
            <a:ext cx="256032" cy="256032"/>
          </a:xfrm>
          <a:prstGeom prst="ellipse">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7671816" y="3424427"/>
            <a:ext cx="256032" cy="228600"/>
          </a:xfrm>
          <a:prstGeom prst="rect">
            <a:avLst/>
          </a:prstGeom>
          <a:noFill/>
        </p:spPr>
        <p:txBody>
          <a:bodyPr wrap="square" lIns="0" rIns="0" tIns="0" bIns="0" anchor="ctr">
            <a:spAutoFit/>
          </a:bodyPr>
          <a:lstStyle/>
          <a:p>
            <a:pPr algn="ctr">
              <a:lnSpc>
                <a:spcPct val="100000"/>
              </a:lnSpc>
            </a:pPr>
            <a:r>
              <a:rPr sz="900" b="1" i="0">
                <a:solidFill>
                  <a:srgbClr val="FFFFFF"/>
                </a:solidFill>
                <a:latin typeface="Segoe UI"/>
              </a:rPr>
              <a:t>2</a:t>
            </a:r>
          </a:p>
        </p:txBody>
      </p:sp>
      <p:sp>
        <p:nvSpPr>
          <p:cNvPr id="42" name="TextBox 41"/>
          <p:cNvSpPr txBox="1"/>
          <p:nvPr/>
        </p:nvSpPr>
        <p:spPr>
          <a:xfrm>
            <a:off x="8010144" y="3401568"/>
            <a:ext cx="3611880" cy="237744"/>
          </a:xfrm>
          <a:prstGeom prst="rect">
            <a:avLst/>
          </a:prstGeom>
          <a:noFill/>
        </p:spPr>
        <p:txBody>
          <a:bodyPr wrap="square" lIns="0" rIns="0" tIns="0" bIns="0" anchor="t">
            <a:spAutoFit/>
          </a:bodyPr>
          <a:lstStyle/>
          <a:p>
            <a:pPr algn="l">
              <a:lnSpc>
                <a:spcPct val="100000"/>
              </a:lnSpc>
            </a:pPr>
            <a:r>
              <a:rPr sz="950" b="1" i="0">
                <a:solidFill>
                  <a:srgbClr val="0B1F3A"/>
                </a:solidFill>
                <a:latin typeface="Segoe UI"/>
              </a:rPr>
              <a:t>Intent signals add usable, but smaller, lift.</a:t>
            </a:r>
          </a:p>
        </p:txBody>
      </p:sp>
      <p:sp>
        <p:nvSpPr>
          <p:cNvPr id="43" name="TextBox 42"/>
          <p:cNvSpPr txBox="1"/>
          <p:nvPr/>
        </p:nvSpPr>
        <p:spPr>
          <a:xfrm>
            <a:off x="8010144" y="3648456"/>
            <a:ext cx="3611880" cy="502920"/>
          </a:xfrm>
          <a:prstGeom prst="rect">
            <a:avLst/>
          </a:prstGeom>
          <a:noFill/>
        </p:spPr>
        <p:txBody>
          <a:bodyPr wrap="square" lIns="0" rIns="0" tIns="0" bIns="0" anchor="t">
            <a:spAutoFit/>
          </a:bodyPr>
          <a:lstStyle/>
          <a:p>
            <a:pPr algn="l">
              <a:lnSpc>
                <a:spcPct val="100000"/>
              </a:lnSpc>
            </a:pPr>
            <a:r>
              <a:rPr sz="890" b="0" i="0">
                <a:solidFill>
                  <a:srgbClr val="334155"/>
                </a:solidFill>
                <a:latin typeface="Segoe UI"/>
              </a:rPr>
              <a:t>All three extras: 18.6% vs 10.7% with none. Short breaks (4-7 days): 19.5% vs 10.1% for 15-30 days. Internet 15.5% vs Mobile 11.0%.</a:t>
            </a:r>
          </a:p>
        </p:txBody>
      </p:sp>
      <p:sp>
        <p:nvSpPr>
          <p:cNvPr id="44" name="Oval 43"/>
          <p:cNvSpPr/>
          <p:nvPr/>
        </p:nvSpPr>
        <p:spPr>
          <a:xfrm>
            <a:off x="7671816" y="4169663"/>
            <a:ext cx="256032" cy="256032"/>
          </a:xfrm>
          <a:prstGeom prst="ellipse">
            <a:avLst/>
          </a:prstGeom>
          <a:solidFill>
            <a:srgbClr val="E67E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7671816" y="4174236"/>
            <a:ext cx="256032" cy="228600"/>
          </a:xfrm>
          <a:prstGeom prst="rect">
            <a:avLst/>
          </a:prstGeom>
          <a:noFill/>
        </p:spPr>
        <p:txBody>
          <a:bodyPr wrap="square" lIns="0" rIns="0" tIns="0" bIns="0" anchor="ctr">
            <a:spAutoFit/>
          </a:bodyPr>
          <a:lstStyle/>
          <a:p>
            <a:pPr algn="ctr">
              <a:lnSpc>
                <a:spcPct val="100000"/>
              </a:lnSpc>
            </a:pPr>
            <a:r>
              <a:rPr sz="900" b="1" i="0">
                <a:solidFill>
                  <a:srgbClr val="FFFFFF"/>
                </a:solidFill>
                <a:latin typeface="Segoe UI"/>
              </a:rPr>
              <a:t>3</a:t>
            </a:r>
          </a:p>
        </p:txBody>
      </p:sp>
      <p:sp>
        <p:nvSpPr>
          <p:cNvPr id="46" name="TextBox 45"/>
          <p:cNvSpPr txBox="1"/>
          <p:nvPr/>
        </p:nvSpPr>
        <p:spPr>
          <a:xfrm>
            <a:off x="8010144" y="4151376"/>
            <a:ext cx="3611880" cy="237744"/>
          </a:xfrm>
          <a:prstGeom prst="rect">
            <a:avLst/>
          </a:prstGeom>
          <a:noFill/>
        </p:spPr>
        <p:txBody>
          <a:bodyPr wrap="square" lIns="0" rIns="0" tIns="0" bIns="0" anchor="t">
            <a:spAutoFit/>
          </a:bodyPr>
          <a:lstStyle/>
          <a:p>
            <a:pPr algn="l">
              <a:lnSpc>
                <a:spcPct val="100000"/>
              </a:lnSpc>
            </a:pPr>
            <a:r>
              <a:rPr sz="950" b="1" i="0">
                <a:solidFill>
                  <a:srgbClr val="0B1F3A"/>
                </a:solidFill>
                <a:latin typeface="Segoe UI"/>
              </a:rPr>
              <a:t>A useful ranking, not a guarantee.</a:t>
            </a:r>
          </a:p>
        </p:txBody>
      </p:sp>
      <p:sp>
        <p:nvSpPr>
          <p:cNvPr id="47" name="TextBox 46"/>
          <p:cNvSpPr txBox="1"/>
          <p:nvPr/>
        </p:nvSpPr>
        <p:spPr>
          <a:xfrm>
            <a:off x="8010144" y="4398264"/>
            <a:ext cx="3611880" cy="502920"/>
          </a:xfrm>
          <a:prstGeom prst="rect">
            <a:avLst/>
          </a:prstGeom>
          <a:noFill/>
        </p:spPr>
        <p:txBody>
          <a:bodyPr wrap="square" lIns="0" rIns="0" tIns="0" bIns="0" anchor="t">
            <a:spAutoFit/>
          </a:bodyPr>
          <a:lstStyle/>
          <a:p>
            <a:pPr algn="l">
              <a:lnSpc>
                <a:spcPct val="100000"/>
              </a:lnSpc>
            </a:pPr>
            <a:r>
              <a:rPr sz="890" b="0" i="0">
                <a:solidFill>
                  <a:srgbClr val="334155"/>
                </a:solidFill>
                <a:latin typeface="Segoe UI"/>
              </a:rPr>
              <a:t>PR-AUC 0.37 vs 0.15 base rate; at the 0.5 threshold the model finds 61% of bookers with 34% precision.</a:t>
            </a:r>
          </a:p>
        </p:txBody>
      </p:sp>
      <p:sp>
        <p:nvSpPr>
          <p:cNvPr id="48" name="Rectangle 47"/>
          <p:cNvSpPr/>
          <p:nvPr/>
        </p:nvSpPr>
        <p:spPr>
          <a:xfrm>
            <a:off x="7671816" y="4974336"/>
            <a:ext cx="3904488" cy="493776"/>
          </a:xfrm>
          <a:prstGeom prst="rect">
            <a:avLst/>
          </a:prstGeom>
          <a:solidFill>
            <a:srgbClr val="E2ECF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7781544" y="5038344"/>
            <a:ext cx="3721608" cy="384048"/>
          </a:xfrm>
          <a:prstGeom prst="rect">
            <a:avLst/>
          </a:prstGeom>
          <a:noFill/>
        </p:spPr>
        <p:txBody>
          <a:bodyPr wrap="square" lIns="0" rIns="0" tIns="0" bIns="0" anchor="t">
            <a:spAutoFit/>
          </a:bodyPr>
          <a:lstStyle/>
          <a:p>
            <a:pPr algn="l">
              <a:lnSpc>
                <a:spcPct val="100000"/>
              </a:lnSpc>
            </a:pPr>
            <a:r>
              <a:rPr sz="800" b="0" i="1">
                <a:solidFill>
                  <a:srgbClr val="0B1F3A"/>
                </a:solidFill>
                <a:latin typeface="Segoe UI"/>
              </a:rPr>
              <a:t>Accuracy is 77% - below the 85% 'never books' baseline. Precision at the top of the ranking is the metric that matters.</a:t>
            </a:r>
          </a:p>
        </p:txBody>
      </p:sp>
      <p:sp>
        <p:nvSpPr>
          <p:cNvPr id="50" name="Rectangle 49"/>
          <p:cNvSpPr/>
          <p:nvPr/>
        </p:nvSpPr>
        <p:spPr>
          <a:xfrm>
            <a:off x="411480" y="5724144"/>
            <a:ext cx="11365992" cy="676656"/>
          </a:xfrm>
          <a:prstGeom prst="rect">
            <a:avLst/>
          </a:prstGeom>
          <a:solidFill>
            <a:srgbClr val="E8F4F5"/>
          </a:solidFill>
          <a:ln w="9525">
            <a:solidFill>
              <a:srgbClr val="C8E4E6"/>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11480" y="5724144"/>
            <a:ext cx="73152" cy="676656"/>
          </a:xfrm>
          <a:prstGeom prst="rect">
            <a:avLst/>
          </a:prstGeom>
          <a:solidFill>
            <a:srgbClr val="008C9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21792" y="5815583"/>
            <a:ext cx="1463040" cy="182880"/>
          </a:xfrm>
          <a:prstGeom prst="rect">
            <a:avLst/>
          </a:prstGeom>
          <a:noFill/>
        </p:spPr>
        <p:txBody>
          <a:bodyPr wrap="square" lIns="0" rIns="0" tIns="0" bIns="0" anchor="t">
            <a:spAutoFit/>
          </a:bodyPr>
          <a:lstStyle/>
          <a:p>
            <a:pPr algn="l">
              <a:lnSpc>
                <a:spcPct val="100000"/>
              </a:lnSpc>
            </a:pPr>
            <a:r>
              <a:rPr sz="850" b="1" i="0">
                <a:solidFill>
                  <a:srgbClr val="008C95"/>
                </a:solidFill>
                <a:latin typeface="Segoe UI"/>
              </a:rPr>
              <a:t>RECOMMENDATION</a:t>
            </a:r>
          </a:p>
        </p:txBody>
      </p:sp>
      <p:sp>
        <p:nvSpPr>
          <p:cNvPr id="53" name="TextBox 52"/>
          <p:cNvSpPr txBox="1"/>
          <p:nvPr/>
        </p:nvSpPr>
        <p:spPr>
          <a:xfrm>
            <a:off x="621792" y="5980176"/>
            <a:ext cx="10972800" cy="173736"/>
          </a:xfrm>
          <a:prstGeom prst="rect">
            <a:avLst/>
          </a:prstGeom>
          <a:noFill/>
        </p:spPr>
        <p:txBody>
          <a:bodyPr wrap="square" lIns="0" rIns="0" tIns="0" bIns="0" anchor="t">
            <a:spAutoFit/>
          </a:bodyPr>
          <a:lstStyle/>
          <a:p>
            <a:pPr algn="l">
              <a:lnSpc>
                <a:spcPct val="100000"/>
              </a:lnSpc>
            </a:pPr>
            <a:r>
              <a:rPr sz="919" b="0" i="0">
                <a:solidFill>
                  <a:srgbClr val="0B1F3A"/>
                </a:solidFill>
                <a:latin typeface="Segoe UI"/>
              </a:rPr>
              <a:t>Rank enquiries and target the top 10-20% for 2.5-2.9x lift; A/B test incremental bookings before scaling.</a:t>
            </a:r>
          </a:p>
        </p:txBody>
      </p:sp>
      <p:sp>
        <p:nvSpPr>
          <p:cNvPr id="54" name="TextBox 53"/>
          <p:cNvSpPr txBox="1"/>
          <p:nvPr/>
        </p:nvSpPr>
        <p:spPr>
          <a:xfrm>
            <a:off x="621792" y="6153912"/>
            <a:ext cx="10972800" cy="173736"/>
          </a:xfrm>
          <a:prstGeom prst="rect">
            <a:avLst/>
          </a:prstGeom>
          <a:noFill/>
        </p:spPr>
        <p:txBody>
          <a:bodyPr wrap="square" lIns="0" rIns="0" tIns="0" bIns="0" anchor="t">
            <a:spAutoFit/>
          </a:bodyPr>
          <a:lstStyle/>
          <a:p>
            <a:pPr algn="l">
              <a:lnSpc>
                <a:spcPct val="100000"/>
              </a:lnSpc>
            </a:pPr>
            <a:r>
              <a:rPr sz="919" b="0" i="0">
                <a:solidFill>
                  <a:srgbClr val="0B1F3A"/>
                </a:solidFill>
                <a:latin typeface="Segoe UI"/>
              </a:rPr>
              <a:t>Localise offers by origin/route and short breaks; retrain quarterly with price and seasonality data.</a:t>
            </a:r>
          </a:p>
        </p:txBody>
      </p:sp>
      <p:sp>
        <p:nvSpPr>
          <p:cNvPr id="55" name="TextBox 54"/>
          <p:cNvSpPr txBox="1"/>
          <p:nvPr/>
        </p:nvSpPr>
        <p:spPr>
          <a:xfrm>
            <a:off x="411480" y="6492240"/>
            <a:ext cx="8869680" cy="274320"/>
          </a:xfrm>
          <a:prstGeom prst="rect">
            <a:avLst/>
          </a:prstGeom>
          <a:noFill/>
        </p:spPr>
        <p:txBody>
          <a:bodyPr wrap="square" lIns="0" rIns="0" tIns="0" bIns="0" anchor="t">
            <a:spAutoFit/>
          </a:bodyPr>
          <a:lstStyle/>
          <a:p>
            <a:pPr algn="l">
              <a:lnSpc>
                <a:spcPct val="100000"/>
              </a:lnSpc>
            </a:pPr>
            <a:r>
              <a:rPr sz="700" b="0" i="0">
                <a:solidFill>
                  <a:srgbClr val="6B7280"/>
                </a:solidFill>
                <a:latin typeface="Segoe UI"/>
              </a:rPr>
              <a:t>Holdout (n=9,857): ROC-AUC 0.788  |  PR-AUC 0.367  |  recall 0.61  |  precision 0.34 at 0.50.   CV: ROC-AUC 0.795 ± 0.003.</a:t>
            </a:r>
          </a:p>
        </p:txBody>
      </p:sp>
      <p:sp>
        <p:nvSpPr>
          <p:cNvPr id="56" name="TextBox 55"/>
          <p:cNvSpPr txBox="1"/>
          <p:nvPr/>
        </p:nvSpPr>
        <p:spPr>
          <a:xfrm>
            <a:off x="411480" y="6647688"/>
            <a:ext cx="9966960" cy="182880"/>
          </a:xfrm>
          <a:prstGeom prst="rect">
            <a:avLst/>
          </a:prstGeom>
          <a:noFill/>
        </p:spPr>
        <p:txBody>
          <a:bodyPr wrap="square" lIns="0" rIns="0" tIns="0" bIns="0" anchor="t">
            <a:spAutoFit/>
          </a:bodyPr>
          <a:lstStyle/>
          <a:p>
            <a:pPr algn="l">
              <a:lnSpc>
                <a:spcPct val="100000"/>
              </a:lnSpc>
            </a:pPr>
            <a:r>
              <a:rPr sz="650" b="0" i="0">
                <a:solidFill>
                  <a:srgbClr val="94A3B8"/>
                </a:solidFill>
                <a:latin typeface="Segoe UI"/>
              </a:rPr>
              <a:t>Data: 50,000 rows, 719 exact duplicates removed. 80/20 stratified split; 5-fold CV; 600-tree Random Forest; out-of-fold target encoding for route and origin. Importance = grouped drop in ROC-AUC when a driver is shuffled.</a:t>
            </a:r>
          </a:p>
        </p:txBody>
      </p:sp>
      <p:sp>
        <p:nvSpPr>
          <p:cNvPr id="57" name="TextBox 56"/>
          <p:cNvSpPr txBox="1"/>
          <p:nvPr/>
        </p:nvSpPr>
        <p:spPr>
          <a:xfrm>
            <a:off x="11201400" y="6601968"/>
            <a:ext cx="594360" cy="182880"/>
          </a:xfrm>
          <a:prstGeom prst="rect">
            <a:avLst/>
          </a:prstGeom>
          <a:noFill/>
        </p:spPr>
        <p:txBody>
          <a:bodyPr wrap="square" lIns="0" rIns="0" tIns="0" bIns="0" anchor="t">
            <a:spAutoFit/>
          </a:bodyPr>
          <a:lstStyle/>
          <a:p>
            <a:pPr algn="r">
              <a:lnSpc>
                <a:spcPct val="100000"/>
              </a:lnSpc>
            </a:pPr>
            <a:r>
              <a:rPr sz="750" b="0" i="0">
                <a:solidFill>
                  <a:srgbClr val="6B7280"/>
                </a:solidFill>
                <a:latin typeface="Segoe UI"/>
              </a:rPr>
              <a:t>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Predicting customer buying behaviour - model summary</dc:title>
  <dc:subject>British Airways booking propensity model</dc:subject>
  <dc:creator>Customer Analytics</dc:creator>
  <cp:keywords>customer booking, random forest, propensity model, ROC-AUC, permutation importance</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